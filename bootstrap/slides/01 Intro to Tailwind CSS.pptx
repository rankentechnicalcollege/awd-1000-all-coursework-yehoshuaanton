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a8f7042-5048-6a3f-2639-4f927bde5a5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Installation" id="{f2931358-a54a-ff29-f835-717b738bac62}">
          <p14:sldIdLst>
            <p14:sldId id="264"/>
            <p14:sldId id="265"/>
            <p14:sldId id="266"/>
          </p14:sldIdLst>
        </p14:section>
        <p14:section name="Breakpoints" id="{92801641-806f-b7e3-9df8-ec27acd46214}">
          <p14:sldIdLst>
            <p14:sldId id="267"/>
            <p14:sldId id="268"/>
          </p14:sldIdLst>
        </p14:section>
        <p14:section name="Spacing" id="{8f1e7d54-3ad5-9107-b686-972ee0fcad61}">
          <p14:sldIdLst>
            <p14:sldId id="269"/>
            <p14:sldId id="270"/>
            <p14:sldId id="271"/>
            <p14:sldId id="272"/>
            <p14:sldId id="273"/>
          </p14:sldIdLst>
        </p14:section>
        <p14:section name="Sizing" id="{f5fae7e2-b0c0-1c84-7dc6-bb056a48d5e7}">
          <p14:sldIdLst>
            <p14:sldId id="274"/>
            <p14:sldId id="275"/>
            <p14:sldId id="276"/>
          </p14:sldIdLst>
        </p14:section>
        <p14:section name="Colors" id="{6e3e8e4d-6882-40a4-e9b4-53a051627b9b}">
          <p14:sldIdLst>
            <p14:sldId id="277"/>
            <p14:sldId id="278"/>
            <p14:sldId id="279"/>
            <p14:sldId id="280"/>
          </p14:sldIdLst>
        </p14:section>
        <p14:section name="Text" id="{19913110-6b9a-42ac-3ed4-2992c3ef5c07}">
          <p14:sldIdLst>
            <p14:sldId id="281"/>
            <p14:sldId id="282"/>
            <p14:sldId id="283"/>
            <p14:sldId id="284"/>
            <p14:sldId id="285"/>
          </p14:sldIdLst>
        </p14:section>
        <p14:section name="Flexbox" id="{9e741cdd-3f99-fbb3-8c49-64865b99d991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Summary" id="{4819a5e2-5de4-fce9-5de3-d294f2b5f6ca}">
          <p14:sldIdLst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995928" y="2514600"/>
            <a:ext cx="420624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995928" y="3840480"/>
            <a:ext cx="4206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ctr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Section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Content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" TargetMode="Externa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blog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ailwindcss.com/docs/styling-with-utility-classes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installatio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theme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preflight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installation/play-cd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installation/play-cd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responsive-desig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margin" TargetMode="External"/><Relationship Id="rId2" Type="http://schemas.openxmlformats.org/officeDocument/2006/relationships/hyperlink" Target="https://tailwindcss.com/docs/padding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margi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margi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margin" TargetMode="External"/><Relationship Id="rId2" Type="http://schemas.openxmlformats.org/officeDocument/2006/relationships/hyperlink" Target="https://tailwindcss.com/docs/responsive-design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width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height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color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background-color" TargetMode="External"/><Relationship Id="rId2" Type="http://schemas.openxmlformats.org/officeDocument/2006/relationships/hyperlink" Target="https://tailwindcss.com/docs/colors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border-color" TargetMode="External"/><Relationship Id="rId2" Type="http://schemas.openxmlformats.org/officeDocument/2006/relationships/hyperlink" Target="https://tailwindcss.com/docs/border-width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text-alig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text-transform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font-weight" TargetMode="External"/><Relationship Id="rId2" Type="http://schemas.openxmlformats.org/officeDocument/2006/relationships/hyperlink" Target="https://tailwindcss.com/docs/font-style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font-size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display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display" TargetMode="External"/><Relationship Id="rId2" Type="http://schemas.openxmlformats.org/officeDocument/2006/relationships/hyperlink" Target="https://tailwindcss.com/docs/responsive-design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flex-direction" TargetMode="External"/><Relationship Id="rId2" Type="http://schemas.openxmlformats.org/officeDocument/2006/relationships/hyperlink" Target="https://css-tricks.com/snippets/css/a-guide-to-flexbox/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flex-direction" TargetMode="External"/><Relationship Id="rId2" Type="http://schemas.openxmlformats.org/officeDocument/2006/relationships/hyperlink" Target="https://css-tricks.com/snippets/css/a-guide-to-flexbox/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justify-content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align-item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align-self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flex-grow" TargetMode="External"/><Relationship Id="rId2" Type="http://schemas.openxmlformats.org/officeDocument/2006/relationships/hyperlink" Target="https://tailwindcss.com/docs/flex-shrink" TargetMode="External"/><Relationship Id="rId3" Type="http://schemas.openxmlformats.org/officeDocument/2006/relationships/hyperlink" Target="https://tailwindcss.com/docs/flex" TargetMode="Externa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order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flex-wrap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align-content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gap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image" Target="../media/image-45-7.png"/><Relationship Id="rId8" Type="http://schemas.openxmlformats.org/officeDocument/2006/relationships/image" Target="../media/image-45-8.png"/><Relationship Id="rId9" Type="http://schemas.openxmlformats.org/officeDocument/2006/relationships/image" Target="../media/image-45-9.png"/><Relationship Id="rId10" Type="http://schemas.openxmlformats.org/officeDocument/2006/relationships/image" Target="../media/image-45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548640" y="-731520"/>
            <a:ext cx="2377440" cy="2377440"/>
          </a:xfrm>
          <a:prstGeom prst="rect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1280160" y="365760"/>
            <a:ext cx="1828800" cy="1828800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-365760" y="2194560"/>
            <a:ext cx="2011680" cy="2011680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463040" y="2377440"/>
            <a:ext cx="1463040" cy="1463040"/>
          </a:xfrm>
          <a:prstGeom prst="rect">
            <a:avLst/>
          </a:prstGeom>
          <a:solidFill>
            <a:srgbClr val="EC4899">
              <a:alpha val="6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600000">
            <a:off x="182880" y="4206240"/>
            <a:ext cx="2194560" cy="2194560"/>
          </a:xfrm>
          <a:prstGeom prst="rect">
            <a:avLst/>
          </a:prstGeom>
          <a:solidFill>
            <a:srgbClr val="FBBF24">
              <a:alpha val="7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2377440" y="4480560"/>
            <a:ext cx="1645920" cy="1645920"/>
          </a:xfrm>
          <a:prstGeom prst="rect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500000">
            <a:off x="2743200" y="-365760"/>
            <a:ext cx="1280160" cy="128016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3600000">
            <a:off x="2194560" y="1645920"/>
            <a:ext cx="1005840" cy="100584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800000">
            <a:off x="8778240" y="-548640"/>
            <a:ext cx="2011680" cy="201168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00000">
            <a:off x="10424160" y="822960"/>
            <a:ext cx="1828800" cy="182880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400000">
            <a:off x="9326880" y="2560320"/>
            <a:ext cx="1371600" cy="137160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200000">
            <a:off x="10789920" y="3108960"/>
            <a:ext cx="1920240" cy="1920240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900000">
            <a:off x="8595360" y="4572000"/>
            <a:ext cx="2103120" cy="2103120"/>
          </a:xfrm>
          <a:prstGeom prst="rect">
            <a:avLst/>
          </a:prstGeom>
          <a:solidFill>
            <a:srgbClr val="EC4899">
              <a:alpha val="6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3000000">
            <a:off x="10607040" y="5120640"/>
            <a:ext cx="1463040" cy="146304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2194560"/>
            <a:ext cx="46634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77056" y="2304288"/>
            <a:ext cx="4443984" cy="2157984"/>
          </a:xfrm>
          <a:prstGeom prst="rect">
            <a:avLst/>
          </a:prstGeom>
          <a:solidFill>
            <a:srgbClr val="1E293B">
              <a:alpha val="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3995928" y="251460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2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 TO TAILWIND CSS</a:t>
            </a:r>
            <a:endParaRPr lang="en-US" sz="34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3995928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Ranken Technical College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CSS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80160" y="1325880"/>
            <a:ext cx="96012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9304" y="1335024"/>
            <a:ext cx="958291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14173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141732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4173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74520" y="137160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https://tailwindcss.com/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088" y="2121408"/>
            <a:ext cx="640080" cy="6400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624328" y="21214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tailwindcss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1847088" y="299008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utility-first CSS framework for building modern websites without leaving your HTML.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847088" y="422452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93008" y="422452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42048" y="2121408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424928" y="2231136"/>
            <a:ext cx="29260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flex items-center gap-4 p-6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rounded-xl bg-white shadow-lg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class="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size-12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src="logo.svg"&gt;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 class="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text-xl font-medium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"&gt;Hello!&lt;/p&gt;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50" dirty="0"/>
          </a:p>
        </p:txBody>
      </p:sp>
      <p:sp>
        <p:nvSpPr>
          <p:cNvPr id="16" name="Text 13">
            <a:hlinkClick r:id="rId2" tooltip=""/>
          </p:cNvPr>
          <p:cNvSpPr txBox="1"/>
          <p:nvPr/>
        </p:nvSpPr>
        <p:spPr>
          <a:xfrm>
            <a:off x="1280160" y="5669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History of Tailwind CSS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CSS was created by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Adam Wathan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and first released in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2017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Instead of pre-built components, it gives you small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utility classes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that each do one job.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has become one of the most popular CSS frameworks in the world.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Version 4 (2025) was a ground-up rewrite with a much faster engine and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CSS-first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configuration.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35240" y="1600200"/>
            <a:ext cx="0" cy="365760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14173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2017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v0.1 — first release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2313432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2019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542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v1.0 — stable release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6640" y="3209544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3163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2020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3438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v2.0 — dark mode, bigger palette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4105656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4059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2021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4334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v3.0 — Just-in-Time engine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06640" y="5001768"/>
            <a:ext cx="457200" cy="457200"/>
          </a:xfrm>
          <a:prstGeom prst="ellipse">
            <a:avLst/>
          </a:prstGeom>
          <a:solidFill>
            <a:srgbClr val="0EA5E9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4956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2025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5230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v4.0 — new engine, CSS config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https://tailwindcss.com/blog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Benefits of Tailwind CSS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011680" y="1554480"/>
            <a:ext cx="1371600" cy="13716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920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3154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Utility-First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3931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Style anything directly in your HTML with single-purpose classes.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40680" y="1554480"/>
            <a:ext cx="1371600" cy="1371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92024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617720" y="3154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Mobile-First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Responsive Design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617720" y="3931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 sm:, md:, lg: prefixes to change any style at any screen size.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869680" y="1554480"/>
            <a:ext cx="1371600" cy="1371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92024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3154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Fully Customizable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8046720" y="3931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Your own colors, fonts, and spacing — no two sites look the same.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Components vs. Utilities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Bootstrap: component classes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85800" y="19659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8680" y="2075688"/>
            <a:ext cx="48463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class="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btn btn-primary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886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framework decides what a "button" looks like.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6656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Tailwind: utility classes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217920" y="19659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400800" y="2075688"/>
            <a:ext cx="48463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class="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rounded-md bg-blue-600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px-4 py-2 text-white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hover:bg-blue-700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217920" y="3886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 build the look from small, single-purpose classes.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" y="45720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0D6EFD"/>
          </a:solidFill>
          <a:ln>
            <a:solidFill>
              <a:srgbClr val="0D6E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217920" y="45720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737360" y="4572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Rendered result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269480" y="4572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Rendered result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https://tailwindcss.com/docs/styling-with-utility-classes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Ways to Install Tailwind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9164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Play CDN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&lt;script&gt; tag in your HTML. Great for learning and prototyping.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FDE047"/>
          </a:solidFill>
          <a:ln>
            <a:solidFill>
              <a:srgbClr val="FDE0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use this in class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169164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Vite plugin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743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recommended setup for real projects built with Vite, React, Vue, etc.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420624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4630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PostCSS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743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Plugs Tailwind into an existing PostCSS build process.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20624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15400" y="14630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0" y="1691640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CLI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743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command-line tool that scans your files and writes a CSS file.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0" y="420624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https://tailwindcss.com/docs/installation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Customizing Your Theme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sites often swap in a pre-made theme. In Tailwind you define your own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tokens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with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@theme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and Tailwind creates matching utilities for you.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59436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258568"/>
            <a:ext cx="557784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type="text/tailwindcss"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@theme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--color-brand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#0d9488;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--font-display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"Century Gothic", sans-serif;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&lt;/style&gt;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 class="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font-display text-brand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"&gt;Hello!&lt;/h1&gt;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class="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bg-brand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text-white"&gt;Go&lt;/button&gt;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2148840"/>
            <a:ext cx="45262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58584" y="2157984"/>
            <a:ext cx="450799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59168" y="22402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05472" y="224028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51776" y="22402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43800" y="219456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7242048" y="2578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Hello!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42048" y="3172968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9776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New utilities appear automatically: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bg-brand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text-brand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border-brand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…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46177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Free component libraries built on Tailwind: 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daisyUI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Flowbite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https://tailwindcss.com/docs/theme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Preflight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includes </a:t>
            </a:r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Preflight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a set of base styles built on top of </a:t>
            </a:r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modern-normalize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 smooths over cross-browser differences and removes default margins.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Headings are unstyled — an </a:t>
            </a:r>
            <a:pPr indent="0" marL="0">
              <a:buNone/>
            </a:pPr>
            <a:r>
              <a:rPr lang="en-US" sz="15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is the same size as normal text.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Lists lose their bullets and images become </a:t>
            </a:r>
            <a:pPr indent="0" marL="0">
              <a:buNone/>
            </a:pPr>
            <a:r>
              <a:rPr lang="en-US" sz="15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block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 don’t need a separate CSS Reset or Normalize.css file. With Tailwind it’s already built 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949440" y="1371600"/>
            <a:ext cx="45262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58584" y="1380744"/>
            <a:ext cx="450799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0547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5177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43800" y="141732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7059168" y="1755648"/>
            <a:ext cx="4306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Browser default: </a:t>
            </a:r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&lt;h1&gt;Heading&lt;/h1&gt;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059168" y="2029968"/>
            <a:ext cx="4306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Heading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949440" y="2834640"/>
            <a:ext cx="45262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58584" y="2843784"/>
            <a:ext cx="450799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9168" y="29260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05472" y="292608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51776" y="29260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288036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059168" y="3218688"/>
            <a:ext cx="4306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With Preflight: </a:t>
            </a:r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&lt;h1&gt;Heading&lt;/h1&gt;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3493008"/>
            <a:ext cx="4306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4297680"/>
            <a:ext cx="45262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58584" y="4306824"/>
            <a:ext cx="450799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59168" y="43891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05472" y="438912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51776" y="43891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43800" y="434340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4681728"/>
            <a:ext cx="4306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Fixed: </a:t>
            </a:r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 class="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text-4xl font-bold</a:t>
            </a:r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4956048"/>
            <a:ext cx="4306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Heading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https://tailwindcss.com/docs/preflight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8503920" y="1097280"/>
            <a:ext cx="2377440" cy="237744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9966960" y="2468880"/>
            <a:ext cx="1828800" cy="182880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229600" y="3474720"/>
            <a:ext cx="1554480" cy="1554480"/>
          </a:xfrm>
          <a:prstGeom prst="rect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332720" y="365760"/>
            <a:ext cx="1188720" cy="118872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57200" cy="457200"/>
          </a:xfrm>
          <a:prstGeom prst="rect">
            <a:avLst/>
          </a:prstGeom>
        </p:spPr>
      </p:pic>
      <p:sp>
        <p:nvSpPr>
          <p:cNvPr id="8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Installation</a:t>
            </a:r>
            <a:endParaRPr lang="en-US" sz="4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Installing Tailwind from a CDN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CSS via CDN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 one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tag inside the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of every page: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38528"/>
            <a:ext cx="69494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src="https://cdn.jsdelivr.net/npm/@tailwindcss/browser@4"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918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Play CDN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reads the classes in your HTML and builds the CSS right in the browser.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 is meant for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learning and development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not production websites.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production, use a build tool (Vite, PostCSS, or the Tailwind CLI).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21040" y="1828800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85632" y="1901952"/>
            <a:ext cx="2825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&lt;link&gt; + 3 &lt;script&gt;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&lt;script&gt;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321040" y="2743200"/>
            <a:ext cx="3154680" cy="1463040"/>
          </a:xfrm>
          <a:prstGeom prst="roundRect">
            <a:avLst>
              <a:gd name="adj" fmla="val 5000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85632" y="2834640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Heads up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needed jQuery, Popper and its own JS file. Tailwind needs none of them.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https://tailwindcss.com/docs/installation/play-cdn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Starter Template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67665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35608"/>
            <a:ext cx="6400800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content="width=device-width, initial-scale=1.0"&gt;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src="https://cdn.jsdelivr.net/npm/@tailwindcss/browser@4"&gt;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text-3xl font-bold underline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Hello world!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&lt;/h1&gt;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0" y="1325880"/>
            <a:ext cx="37033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81544" y="1335024"/>
            <a:ext cx="368503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82128" y="14173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8432" y="141732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74736" y="14173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37160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973568" y="1801368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 world!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0" y="3063240"/>
            <a:ext cx="3703320" cy="1600200"/>
          </a:xfrm>
          <a:prstGeom prst="roundRect">
            <a:avLst>
              <a:gd name="adj" fmla="val 4571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36992" y="3154680"/>
            <a:ext cx="3374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JavaScript needed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has no JS plugins. Interactive parts (like a menu toggle) use a few lines of 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your own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JavaScript.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https://tailwindcss.com/docs/installation/play-cdn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8503920" y="1097280"/>
            <a:ext cx="2377440" cy="237744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9966960" y="2468880"/>
            <a:ext cx="1828800" cy="182880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229600" y="3474720"/>
            <a:ext cx="1554480" cy="1554480"/>
          </a:xfrm>
          <a:prstGeom prst="rect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332720" y="365760"/>
            <a:ext cx="1188720" cy="118872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57200" cy="457200"/>
          </a:xfrm>
          <a:prstGeom prst="rect">
            <a:avLst/>
          </a:prstGeom>
        </p:spPr>
      </p:pic>
      <p:sp>
        <p:nvSpPr>
          <p:cNvPr id="8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Breakpoints</a:t>
            </a:r>
            <a:endParaRPr lang="en-US" sz="4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Responsive Design with Media Queries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wide is your viewport?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uses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mobile-first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breakpoints. Put a prefix like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md: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in front of any utility to apply it at that width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and up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48840"/>
          <a:ext cx="6766560" cy="914400"/>
        </p:xfrm>
        <a:graphic>
          <a:graphicData uri="http://schemas.openxmlformats.org/drawingml/2006/table">
            <a:tbl>
              <a:tblPr/>
              <a:tblGrid>
                <a:gridCol w="1488643"/>
                <a:gridCol w="2435962"/>
                <a:gridCol w="2841955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 width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Applies when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(none)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Always (mobile first)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sm: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640px (40rem)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640px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md: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768px (48rem)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768px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lg: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1024px (64rem)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1024px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xl: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1280px (80rem)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1280px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2xl: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1536px (96rem)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1536px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4572000"/>
            <a:ext cx="6766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8680" y="468172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class="text-sm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md:text-base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lg:text-lg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18120" y="214884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82712" y="2221992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m-md-3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md:m-4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18120" y="306324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82712" y="3154680"/>
            <a:ext cx="332841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Different numbers!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Bootstrap: sm 576, md 768, lg 992, xl 1200.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Tailwind: sm 640, md 768, lg 1024, xl 1280, 2xl 1536.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https://tailwindcss.com/docs/responsive-design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8503920" y="1097280"/>
            <a:ext cx="2377440" cy="237744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9966960" y="2468880"/>
            <a:ext cx="1828800" cy="182880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229600" y="3474720"/>
            <a:ext cx="1554480" cy="1554480"/>
          </a:xfrm>
          <a:prstGeom prst="rect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332720" y="365760"/>
            <a:ext cx="1188720" cy="118872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57200" cy="457200"/>
          </a:xfrm>
          <a:prstGeom prst="rect">
            <a:avLst/>
          </a:prstGeom>
        </p:spPr>
      </p:pic>
      <p:sp>
        <p:nvSpPr>
          <p:cNvPr id="8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Spacing</a:t>
            </a:r>
            <a:endParaRPr lang="en-US" sz="4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Responsive Margins &amp; Padding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much space do you want?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Margin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325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Padding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Size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6916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691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(0px)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939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0939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0939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0.25rem (4px)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2167128"/>
            <a:ext cx="164592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4963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24963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24963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0.5rem (8px)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74920" y="2569464"/>
            <a:ext cx="329184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8986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28986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28986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0.75rem (12px)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74920" y="2971800"/>
            <a:ext cx="493776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3009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33009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33009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1rem (16px)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74920" y="3374136"/>
            <a:ext cx="658368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703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920240" y="3703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0" y="3703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1.5rem (24px)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74920" y="3776472"/>
            <a:ext cx="987552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1056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m-8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920240" y="41056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p-8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41056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2rem (32px)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74920" y="4178808"/>
            <a:ext cx="1316736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45079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m-12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920240" y="45079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p-12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3200400" y="45079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3rem (48px)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74920" y="4581144"/>
            <a:ext cx="1975104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4910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m-auto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3200400" y="4910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680960" y="1371600"/>
            <a:ext cx="3794760" cy="1600200"/>
          </a:xfrm>
          <a:prstGeom prst="roundRect">
            <a:avLst>
              <a:gd name="adj" fmla="val 4571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45552" y="1463040"/>
            <a:ext cx="3465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4px rule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Each step is 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0.25rem (4px)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 In Tailwind 4 any number works: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p-5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m-7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p-13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…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680960" y="3200400"/>
            <a:ext cx="379476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45552" y="3273552"/>
            <a:ext cx="3465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m-3  (1rem)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m-4  (1rem)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680960" y="41148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Bootstrap’s scale stops at 5. Tailwind’s numbers count 4px steps, so the same space has a different number.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https://tailwindcss.com/docs/margin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https://tailwindcss.com/docs/padding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side do you want it on?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 margin to each side: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m-4 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sides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12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mt-4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margin-top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968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mb-4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margin-bottom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80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ml-4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margin-left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649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mr-4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margin-right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490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mx-4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and right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1330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my-4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and bottom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 padding to each side: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8288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p-4 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sides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212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pt-4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padding-top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25968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pb-4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padding-bottom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2980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pl-4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padding-left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3649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pr-4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padding-right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7490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px-4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and right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41330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py-4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and bottom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63840" y="1554480"/>
            <a:ext cx="3474720" cy="2743200"/>
          </a:xfrm>
          <a:prstGeom prst="roundRect">
            <a:avLst>
              <a:gd name="adj" fmla="val 1333"/>
            </a:avLst>
          </a:prstGeom>
          <a:solidFill>
            <a:srgbClr val="FED7AA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2057400"/>
            <a:ext cx="2377440" cy="1737360"/>
          </a:xfrm>
          <a:prstGeom prst="rect">
            <a:avLst/>
          </a:prstGeom>
          <a:solidFill>
            <a:srgbClr val="BBF7D0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2514600"/>
            <a:ext cx="1463040" cy="822960"/>
          </a:xfrm>
          <a:prstGeom prst="rect">
            <a:avLst/>
          </a:prstGeom>
          <a:solidFill>
            <a:srgbClr val="BAE6FD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0" y="2514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content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1645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mt-4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mb-4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2121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pt-4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33649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pb-4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882128" y="274320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ml-4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789920" y="274320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mr-4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margin</a:t>
            </a:r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/  </a:t>
            </a:r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padding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63840" y="4663440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28432" y="4736592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ml-3  pr-3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ml-4  pr-4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https://tailwindcss.com/docs/margin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Horizontal Centering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mx-auto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to center a block element that has a width. It sets the left and right margins to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304288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mx-auto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w-48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bg-sky-100"&gt;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Centered element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2194560"/>
            <a:ext cx="4892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92824" y="2203704"/>
            <a:ext cx="48737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93408" y="2286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39712" y="228600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86016" y="2286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78040" y="224028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115300" y="2852928"/>
            <a:ext cx="1828800" cy="4114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15300" y="2852928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Centered element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93408" y="3447288"/>
            <a:ext cx="14218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944100" y="3447288"/>
            <a:ext cx="14218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headEnd type="triangl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85800" y="3566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w-48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= 12rem (192px). Without a width,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mx-auto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has nothing to center.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38912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4462272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mx-auto (same!)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mx-auto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https://tailwindcss.com/docs/margin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Responsive Spacing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breakpoint prefixes to change the margin or padding at different viewport widths.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Example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67128"/>
            <a:ext cx="6035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m-0 lg:m-4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margin     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small and medium screens.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815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Margin = 1rem 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large screens and up.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94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Example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986784"/>
            <a:ext cx="6035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096512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m-0 md:m-2 lg:m-4 xl:m-12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085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margin     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small screens.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9011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Margin = 0.5rem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medium screens.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1937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Margin = 1rem 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large screens.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Margin = 3rem 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extra large screens and up.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874520"/>
          <a:ext cx="4343400" cy="914400"/>
        </p:xfrm>
        <a:graphic>
          <a:graphicData uri="http://schemas.openxmlformats.org/drawingml/2006/table">
            <a:tbl>
              <a:tblPr/>
              <a:tblGrid>
                <a:gridCol w="955548"/>
                <a:gridCol w="1563624"/>
                <a:gridCol w="1824228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 width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Applies when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(none)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0px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Always (mobile first)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sm: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640px (40rem)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640px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md: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768px (48rem)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768px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lg: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1024px (64rem)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1024px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xl: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1280px (80rem)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1280px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2xl: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1536px (96rem)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1536px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https://tailwindcss.com/docs/margin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https://tailwindcss.com/docs/responsive-design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8503920" y="1097280"/>
            <a:ext cx="2377440" cy="237744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9966960" y="2468880"/>
            <a:ext cx="1828800" cy="182880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229600" y="3474720"/>
            <a:ext cx="1554480" cy="1554480"/>
          </a:xfrm>
          <a:prstGeom prst="rect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332720" y="365760"/>
            <a:ext cx="1188720" cy="118872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57200" cy="457200"/>
          </a:xfrm>
          <a:prstGeom prst="rect">
            <a:avLst/>
          </a:prstGeom>
        </p:spPr>
      </p:pic>
      <p:sp>
        <p:nvSpPr>
          <p:cNvPr id="8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Sizing</a:t>
            </a:r>
            <a:endParaRPr lang="en-US" sz="4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fluid layouts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Sizing: Relative to Parent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fractions to set the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as a percentage of the parent element.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.w-1\/4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width: 25%; 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0" y="1911096"/>
            <a:ext cx="27432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911096"/>
            <a:ext cx="685800" cy="29260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w-1/4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.w-1\/2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width: 50%; 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2368296"/>
            <a:ext cx="27432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368296"/>
            <a:ext cx="1371600" cy="29260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w-1/2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.w-3\/4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width: 75%; 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2825496"/>
            <a:ext cx="27432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825496"/>
            <a:ext cx="2057400" cy="29260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w-3/4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.w-full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width: 100%; 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3282696"/>
            <a:ext cx="27432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282696"/>
            <a:ext cx="2743200" cy="29260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w-full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.max-w-full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max-width: 100%; }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251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.max-h-full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max-height: 100%; }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663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.w-64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width: 16rem;  (fixed) }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1874520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11312" y="1947672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w-25  w-50  w-100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w-1/4  w-1/2  w-full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283464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11312" y="292608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More choices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Any fraction works: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w-1/3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w-2/3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w-3/5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w-5/6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…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https://tailwindcss.com/docs/width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Sizing: Relative to Viewport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these classes to size an element relative to the browser window (the viewport).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.w-screen     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width: 100vw; }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.h-screen     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height: 100vh; }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.min-w-screen 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min-width: 100vw; }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.min-h-screen 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min-height: 100vh; }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03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.h-dvh        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height: 100dvh; }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3434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h-dvh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uses the 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dynamic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viewport height, which accounts for mobile browser toolbars.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0" y="1463040"/>
            <a:ext cx="2194560" cy="374904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9640" y="1691640"/>
            <a:ext cx="1920240" cy="32918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9640" y="1691640"/>
            <a:ext cx="1920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min-h-screen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744200" y="1691640"/>
            <a:ext cx="0" cy="329184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  <a:headEnd type="triangl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0835640" y="3154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100vh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5029200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" y="5102352"/>
            <a:ext cx="5888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min-vh-100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min-h-screen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https://tailwindcss.com/docs/height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8503920" y="1097280"/>
            <a:ext cx="2377440" cy="237744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9966960" y="2468880"/>
            <a:ext cx="1828800" cy="182880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229600" y="3474720"/>
            <a:ext cx="1554480" cy="1554480"/>
          </a:xfrm>
          <a:prstGeom prst="rect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332720" y="365760"/>
            <a:ext cx="1188720" cy="118872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57200" cy="457200"/>
          </a:xfrm>
          <a:prstGeom prst="rect">
            <a:avLst/>
          </a:prstGeom>
        </p:spPr>
      </p:pic>
      <p:sp>
        <p:nvSpPr>
          <p:cNvPr id="8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Colors</a:t>
            </a:r>
            <a:endParaRPr lang="en-US" sz="4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a consistent look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Text Color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text-{color}-{shade}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to change the color of the text.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063240" cy="361188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text-blue-600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76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text-gray-600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15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text-green-600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53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text-red-600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text-yellow-500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630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text-cyan-600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968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text-gray-100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306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text-gray-900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645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text-gray-500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text-white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31920" y="1828800"/>
            <a:ext cx="3063240" cy="3611880"/>
          </a:xfrm>
          <a:prstGeom prst="roundRect">
            <a:avLst>
              <a:gd name="adj" fmla="val 1493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520" y="1938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text-blue-600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2276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text-gray-600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2615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text-green-600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2953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text-red-600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text-yellow-500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160520" y="3630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text-cyan-600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3968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text-gray-100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160520" y="4306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text-gray-900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160520" y="4645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text-gray-500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16052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text-white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18288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→ Tailwind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21945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text-primary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text-blue-600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24688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text-secondary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text-gray-600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27432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text-success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text-green-600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30175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text-danger 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text-red-600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32918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text-warning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text-yellow-500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35661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text-info   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text-cyan-600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38404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text-light  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text-gray-100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41148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text-dark   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text-gray-900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406640" y="43891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text-muted  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text-gray-500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06640" y="475488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71232" y="4846320"/>
            <a:ext cx="3739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Important: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"primary" or "danger" — you pick real colors.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https://tailwindcss.com/docs/color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Background Color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bg-{color}-{shade}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to change the background color of an element.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5120640" cy="365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bg-blue-600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258568"/>
            <a:ext cx="5120640" cy="365760"/>
          </a:xfrm>
          <a:prstGeom prst="rect">
            <a:avLst/>
          </a:prstGeom>
          <a:solidFill>
            <a:srgbClr val="4B5563"/>
          </a:solidFill>
          <a:ln>
            <a:solidFill>
              <a:srgbClr val="4B5563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bg-gray-600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688336"/>
            <a:ext cx="5120640" cy="3657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bg-green-600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118104"/>
            <a:ext cx="5120640" cy="365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bg-red-600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547872"/>
            <a:ext cx="5120640" cy="365760"/>
          </a:xfrm>
          <a:prstGeom prst="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bg-yellow-500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36576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bg-cyan-600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407408"/>
            <a:ext cx="5120640" cy="365760"/>
          </a:xfrm>
          <a:prstGeom prst="rect">
            <a:avLst/>
          </a:prstGeom>
          <a:solidFill>
            <a:srgbClr val="F3F4F6"/>
          </a:solidFill>
          <a:ln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bg-gray-100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837176"/>
            <a:ext cx="5120640" cy="3657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bg-gray-900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2880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color comes in shades from 50 (lightest) to 950 (darkest):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514600"/>
            <a:ext cx="420624" cy="731520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329184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2514600"/>
            <a:ext cx="420624" cy="731520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329184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23760" y="2514600"/>
            <a:ext cx="420624" cy="731520"/>
          </a:xfrm>
          <a:prstGeom prst="roundRect">
            <a:avLst>
              <a:gd name="adj" fmla="val 8696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29184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80960" y="2514600"/>
            <a:ext cx="420624" cy="731520"/>
          </a:xfrm>
          <a:prstGeom prst="roundRect">
            <a:avLst>
              <a:gd name="adj" fmla="val 8696"/>
            </a:avLst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329184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38160" y="2514600"/>
            <a:ext cx="420624" cy="731520"/>
          </a:xfrm>
          <a:prstGeom prst="roundRect">
            <a:avLst>
              <a:gd name="adj" fmla="val 8696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329184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595360" y="2514600"/>
            <a:ext cx="420624" cy="731520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0" y="329184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52560" y="2514600"/>
            <a:ext cx="420624" cy="731520"/>
          </a:xfrm>
          <a:prstGeom prst="roundRect">
            <a:avLst>
              <a:gd name="adj" fmla="val 869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52560" y="329184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509760" y="2514600"/>
            <a:ext cx="420624" cy="731520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09760" y="329184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966960" y="2514600"/>
            <a:ext cx="420624" cy="731520"/>
          </a:xfrm>
          <a:prstGeom prst="roundRect">
            <a:avLst>
              <a:gd name="adj" fmla="val 8696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66960" y="329184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424160" y="2514600"/>
            <a:ext cx="420624" cy="731520"/>
          </a:xfrm>
          <a:prstGeom prst="roundRect">
            <a:avLst>
              <a:gd name="adj" fmla="val 869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24160" y="329184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881360" y="2514600"/>
            <a:ext cx="420624" cy="731520"/>
          </a:xfrm>
          <a:prstGeom prst="roundRect">
            <a:avLst>
              <a:gd name="adj" fmla="val 8696"/>
            </a:avLst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881360" y="329184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950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bg-blue-50 … bg-blue-950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402336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 color families: slate, gray, red, orange, amber, yellow, lime, green, emerald, teal, cyan, sky, blue, indigo, violet, purple, fuchsia, pink, rose…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09360" y="4983480"/>
            <a:ext cx="516636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73952" y="5056632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bg-primary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bg-blue-600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https://tailwindcss.com/docs/background-color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https://tailwindcss.com/docs/colors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Color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 a border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width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and a border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color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 Use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rounded-*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to round the corners.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6035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84248"/>
            <a:ext cx="5669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border-2 border-red-500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rounded-md p-4"&gt;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Danger zone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86600" y="1874520"/>
            <a:ext cx="2103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border-blue-600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0" y="1874520"/>
            <a:ext cx="2103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border-gray-600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86600" y="2651760"/>
            <a:ext cx="2103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border-green-600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0" y="2651760"/>
            <a:ext cx="2103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border-red-500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086600" y="3429000"/>
            <a:ext cx="2103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AB30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border-yellow-500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0" y="3429000"/>
            <a:ext cx="2103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0891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border-cyan-600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86600" y="4206240"/>
            <a:ext cx="2103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border-gray-200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0" y="4206240"/>
            <a:ext cx="2103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border-gray-900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24612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= 1px,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border-2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= 2px,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border-4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= 4px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side only: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border-t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border-b-2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border-l-4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Tailwind 4 the default border color is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currentColor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so always pick a color.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https://tailwindcss.com/docs/border-color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https://tailwindcss.com/docs/border-width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8503920" y="1097280"/>
            <a:ext cx="2377440" cy="237744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9966960" y="2468880"/>
            <a:ext cx="1828800" cy="182880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229600" y="3474720"/>
            <a:ext cx="1554480" cy="1554480"/>
          </a:xfrm>
          <a:prstGeom prst="rect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332720" y="365760"/>
            <a:ext cx="1188720" cy="118872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57200" cy="457200"/>
          </a:xfrm>
          <a:prstGeom prst="rect">
            <a:avLst/>
          </a:prstGeom>
        </p:spPr>
      </p:pic>
      <p:sp>
        <p:nvSpPr>
          <p:cNvPr id="8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Text</a:t>
            </a:r>
            <a:endParaRPr lang="en-US" sz="4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quick classes for styling text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Text Alignment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.text-left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text-align: left; }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20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.text-center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text-align: center; }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.text-right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text-align: right;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.text-justify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text-align: justify; 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74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{breakpoint}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:text-{align}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5943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4087368"/>
            <a:ext cx="5577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text-center md:text-left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709160"/>
            <a:ext cx="594360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" y="4782312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text-md-left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md:text-left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1463040"/>
            <a:ext cx="443484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50024" y="1472184"/>
            <a:ext cx="44165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0608" y="15544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6912" y="155448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43216" y="15544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35240" y="150876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242048" y="1892808"/>
            <a:ext cx="4032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 aligned text.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242048" y="2350008"/>
            <a:ext cx="4032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Center aligned text.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242048" y="2807208"/>
            <a:ext cx="4032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aligned text.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42048" y="3264408"/>
            <a:ext cx="4032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Justified text spreads each line out so both edges line up evenly, like a newspaper column.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https://tailwindcss.com/docs/text-align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Text Transform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.uppercase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text-transform: uppercase; }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20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.lowercase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text-transform: lowercase; }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.capitalize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text-transform: capitalize;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.normal-case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text-transform: none; 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657600"/>
            <a:ext cx="594360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" y="3730752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text-uppercase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uppercase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0" y="1463040"/>
            <a:ext cx="44348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50024" y="1472184"/>
            <a:ext cx="44165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50608" y="15544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96912" y="155448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43216" y="15544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35240" y="150876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7242048" y="1938528"/>
            <a:ext cx="4032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uppercase 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QUICK BROWN FOX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242048" y="2350008"/>
            <a:ext cx="4032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lowercase 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quick brown fox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242048" y="2761488"/>
            <a:ext cx="4032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capitalize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Quick Brown Fox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242048" y="3172968"/>
            <a:ext cx="4032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normal-case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quick brown fox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https://tailwindcss.com/docs/text-transform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Font Weight and Italics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.font-light    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font-weight: 300; }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Weight 300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.font-normal   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font-weight: 400; }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400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.font-medium   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font-weight: 500; }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Weight 500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889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.font-semibold 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font-weight: 600; }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Weight 600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46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.font-bold     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font-weight: 700; }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700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7033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.font-extrabold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font-weight: 800; }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Weight 800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160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.italic        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font-style: italic; }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Italic text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" y="4754880"/>
            <a:ext cx="612648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4828032"/>
            <a:ext cx="5797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font-weight-bold  font-italic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font-bold  italic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https://tailwindcss.com/docs/font-weight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https://tailwindcss.com/docs/font-style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Font Size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Because Preflight removes heading sizes, you set sizes yourself with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text-{size}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text-sm    14px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7830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 Heading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305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text-base  16px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1305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 Heading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780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text-lg    18px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47802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 Heading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25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text-xl    20px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8254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 Heading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1729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text-2xl   24px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1729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 Heading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20440"/>
            <a:ext cx="292608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text-3xl   30px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520440"/>
            <a:ext cx="42062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 Heading</a:t>
            </a:r>
            <a:endParaRPr lang="en-US" sz="2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910203"/>
            <a:ext cx="292608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text-4xl   36px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910203"/>
            <a:ext cx="420624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 Heading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374261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text-5xl   48px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4374261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 Heading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8138160" y="1828800"/>
            <a:ext cx="333756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2752" y="1901952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 class="display-4"&gt;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 class="text-5xl"&gt;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274320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02752" y="2834640"/>
            <a:ext cx="3008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 height too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 it with a slash: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text-lg/7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sets the size and the line height together.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https://tailwindcss.com/docs/font-size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8503920" y="1097280"/>
            <a:ext cx="2377440" cy="237744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9966960" y="2468880"/>
            <a:ext cx="1828800" cy="182880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229600" y="3474720"/>
            <a:ext cx="1554480" cy="1554480"/>
          </a:xfrm>
          <a:prstGeom prst="rect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332720" y="365760"/>
            <a:ext cx="1188720" cy="118872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57200" cy="457200"/>
          </a:xfrm>
          <a:prstGeom prst="rect">
            <a:avLst/>
          </a:prstGeom>
        </p:spPr>
      </p:pic>
      <p:sp>
        <p:nvSpPr>
          <p:cNvPr id="8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Flexbox</a:t>
            </a:r>
            <a:endParaRPr lang="en-US" sz="4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Responsive Layouts with Flexbox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Display Property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the following classes to change the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property.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.hidden   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display: none; }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.inline   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display: inline;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.inline-block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display: inline-block; 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04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.block    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display: block; }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57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.flex     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display: flex; }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1148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.grid     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display: grid; }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828800"/>
          <a:ext cx="4114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Bootstrap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Tailwind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d-none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hidden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d-inline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inline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d-inline-block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inline-block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d-block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d-flex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flex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d-grid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grid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https://tailwindcss.com/docs/display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Display Property with Breakpoints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breakpoint prefixes to change the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property at different viewport widths.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{breakpoint}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:{display}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Example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578608"/>
            <a:ext cx="6035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688336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hidden lg:block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00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Hidden         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small and medium screens.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93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Visible        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large screens and up.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270248"/>
            <a:ext cx="6035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379976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block md:flex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892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Display = block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small screens.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1846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Display = flex 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medium screens and up.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828800"/>
          <a:ext cx="4343400" cy="914400"/>
        </p:xfrm>
        <a:graphic>
          <a:graphicData uri="http://schemas.openxmlformats.org/drawingml/2006/table">
            <a:tbl>
              <a:tblPr/>
              <a:tblGrid>
                <a:gridCol w="955548"/>
                <a:gridCol w="1563624"/>
                <a:gridCol w="1824228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 width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Applies when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(none)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0px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Always (mobile first)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sm: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640px (40rem)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640px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md: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768px (48rem)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768px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lg: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1024px (64rem)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1024px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xl: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1280px (80rem)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1280px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2xl: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1536px (96rem)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width ≥ 1536px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132320" y="420624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96912" y="4279392"/>
            <a:ext cx="4014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d-none d-lg-block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lg:block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https://tailwindcss.com/docs/display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https://tailwindcss.com/docs/responsive-design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Flexbox: Direction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.flex-row        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flex-direction: row; }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20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.flex-row-reverse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flex-direction: row-reverse; }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.flex-col        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flex-direction: column; }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.flex-col-reverse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flex-direction: column-reverse; 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520440"/>
            <a:ext cx="594360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" y="3593592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flex-column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flex-col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1417320"/>
            <a:ext cx="4160520" cy="4023360"/>
          </a:xfrm>
          <a:prstGeom prst="roundRect">
            <a:avLst>
              <a:gd name="adj" fmla="val 136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flex-direction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0" y="196596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19288" y="196596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94776" y="196596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43800" y="265176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19288" y="265176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94776" y="265176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651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row-reverse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0" y="342900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0" y="390448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0" y="4379976"/>
            <a:ext cx="384048" cy="384048"/>
          </a:xfrm>
          <a:prstGeom prst="roundRect">
            <a:avLst>
              <a:gd name="adj" fmla="val 7143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886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0" y="342900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390448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0" y="4379976"/>
            <a:ext cx="384048" cy="384048"/>
          </a:xfrm>
          <a:prstGeom prst="roundRect">
            <a:avLst>
              <a:gd name="adj" fmla="val 7143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0" y="3886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col-reverse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https://tailwindcss.com/docs/flex-direction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https://css-tricks.com/snippets/css/a-guide-to-flexbox/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Flexbox: Direction with Breakpoints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{breakpoint}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:flex-{direction}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Example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12848"/>
            <a:ext cx="6035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322576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flex flex-col lg:flex-row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Vertical flexbox  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small and medium screens.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272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Horizontal flexbox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large screens and up.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657600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" y="3730752"/>
            <a:ext cx="5705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d-flex flex-column flex-lg-row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 flex-col lg:flex-row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1371600"/>
            <a:ext cx="182880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41464" y="1380744"/>
            <a:ext cx="181051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4204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8835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3465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1417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phone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33488" y="1847088"/>
            <a:ext cx="1426464" cy="594360"/>
          </a:xfrm>
          <a:prstGeom prst="roundRect">
            <a:avLst>
              <a:gd name="adj" fmla="val 461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33488" y="2532888"/>
            <a:ext cx="1426464" cy="594360"/>
          </a:xfrm>
          <a:prstGeom prst="roundRect">
            <a:avLst>
              <a:gd name="adj" fmla="val 461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33488" y="3218688"/>
            <a:ext cx="1426464" cy="594360"/>
          </a:xfrm>
          <a:prstGeom prst="roundRect">
            <a:avLst>
              <a:gd name="adj" fmla="val 461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9720" y="137160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98864" y="1380744"/>
            <a:ext cx="226771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9944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4575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9205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84080" y="1417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desktop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372600" y="1847088"/>
            <a:ext cx="566928" cy="54864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30968" y="1847088"/>
            <a:ext cx="566928" cy="54864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89336" y="1847088"/>
            <a:ext cx="566928" cy="54864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/ medium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large and up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https://tailwindcss.com/docs/flex-direction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https://css-tricks.com/snippets/css/a-guide-to-flexbox/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Flexbox: Justify Content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justify-start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931920" y="141732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986784" y="1472184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434840" y="1472184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82896" y="1472184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208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0" y="2020824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27064" y="2075688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0" y="2075688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23176" y="2075688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624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justify-center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31920" y="2624328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106924" y="2679192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54980" y="2679192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03036" y="2679192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2278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justify-between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1920" y="3227832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986784" y="3282696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54980" y="3282696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23176" y="3282696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8313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justify-around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931920" y="3831336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372356" y="3886200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54980" y="3886200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37604" y="3886200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justify-evenly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931920" y="443484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565142" y="4489704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54980" y="4489704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44818" y="4489704"/>
            <a:ext cx="411480" cy="25146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{breakpoint}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:justify-{value}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001000" y="1417320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65592" y="1490472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justify-content-between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justify-between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001000" y="2377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Moves items along the 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main axis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(left to right in a row).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https://tailwindcss.com/docs/justify-content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Flexbox: Align Items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items-start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931920" y="1417320"/>
            <a:ext cx="2743200" cy="841248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986784" y="147218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434840" y="1472184"/>
            <a:ext cx="411480" cy="68580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82896" y="1472184"/>
            <a:ext cx="411480" cy="45720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items-end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0" y="2331720"/>
            <a:ext cx="2743200" cy="841248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986784" y="279806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34840" y="2432304"/>
            <a:ext cx="411480" cy="68580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82896" y="2660904"/>
            <a:ext cx="411480" cy="45720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24612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items-center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31920" y="3246120"/>
            <a:ext cx="2743200" cy="841248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986784" y="350672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3323844"/>
            <a:ext cx="411480" cy="68580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82896" y="3438144"/>
            <a:ext cx="411480" cy="45720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16052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items-stretch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1920" y="4160520"/>
            <a:ext cx="2743200" cy="841248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986784" y="4215384"/>
            <a:ext cx="411480" cy="73152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34840" y="4215384"/>
            <a:ext cx="411480" cy="73152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82896" y="4215384"/>
            <a:ext cx="411480" cy="73152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07492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items-baseline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931920" y="5074920"/>
            <a:ext cx="2743200" cy="841248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986784" y="512978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34840" y="5129784"/>
            <a:ext cx="411480" cy="68580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82896" y="5129784"/>
            <a:ext cx="411480" cy="45720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{breakpoint}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:items-{value}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32320" y="196596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96912" y="2039112"/>
            <a:ext cx="4014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align-items-center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items-center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288036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Lines items up on the 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cross axis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(top to bottom in a row).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https://tailwindcss.com/docs/align-items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Flexbox: Align Self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self-start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931920" y="1417320"/>
            <a:ext cx="2743200" cy="841248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986784" y="147218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434840" y="147218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EC4899"/>
          </a:solidFill>
          <a:ln>
            <a:solidFill>
              <a:srgbClr val="EC48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82896" y="147218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0" y="2377440"/>
            <a:ext cx="2743200" cy="841248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986784" y="243230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34840" y="284378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EC4899"/>
          </a:solidFill>
          <a:ln>
            <a:solidFill>
              <a:srgbClr val="EC48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82896" y="243230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33756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self-center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31920" y="3337560"/>
            <a:ext cx="2743200" cy="841248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986784" y="339242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359816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EC4899"/>
          </a:solidFill>
          <a:ln>
            <a:solidFill>
              <a:srgbClr val="EC48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82896" y="339242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29768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self-stretch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1920" y="4297680"/>
            <a:ext cx="2743200" cy="841248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986784" y="435254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34840" y="4352544"/>
            <a:ext cx="411480" cy="731520"/>
          </a:xfrm>
          <a:prstGeom prst="roundRect">
            <a:avLst>
              <a:gd name="adj" fmla="val 6667"/>
            </a:avLst>
          </a:prstGeom>
          <a:solidFill>
            <a:srgbClr val="EC4899"/>
          </a:solidFill>
          <a:ln>
            <a:solidFill>
              <a:srgbClr val="EC48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82896" y="4352544"/>
            <a:ext cx="411480" cy="32004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{breakpoint}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:self-{value}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0" y="196596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96912" y="2039112"/>
            <a:ext cx="4014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align-self-end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self-end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28803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Overrides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items-*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for 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item (shown in pink).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self-auto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goes back to the parent’s setting.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https://tailwindcss.com/docs/align-self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Flexbox: Grow &amp; Shrink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.grow  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flex-grow: 1; }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019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.grow-0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flex-grow: 0; }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408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.shrink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flex-shrink: 1;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797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.shrink-0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flex-shrink: 0; 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186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.flex-1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flex: 1 1 0%; }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57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.flex-none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flex: none; }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{breakpoint}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:grow-{0}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463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Item 2 has grow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1783080"/>
            <a:ext cx="4480560" cy="54864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04304" y="1837944"/>
            <a:ext cx="640080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1837944"/>
            <a:ext cx="3017520" cy="438912"/>
          </a:xfrm>
          <a:prstGeom prst="roundRect">
            <a:avLst>
              <a:gd name="adj" fmla="val 6250"/>
            </a:avLst>
          </a:prstGeom>
          <a:solidFill>
            <a:srgbClr val="EC4899"/>
          </a:solidFill>
          <a:ln>
            <a:solidFill>
              <a:srgbClr val="EC48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(grow)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35056" y="1837944"/>
            <a:ext cx="640080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606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All items have flex-1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2926080"/>
            <a:ext cx="4480560" cy="54864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004304" y="2980944"/>
            <a:ext cx="1399032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39912" y="2980944"/>
            <a:ext cx="1399032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875520" y="2980944"/>
            <a:ext cx="1399032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3840480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3913632"/>
            <a:ext cx="4151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flex-grow-1  flex-shrink-0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  shrink-0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6235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https://tailwindcss.com/docs/flex-grow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https://tailwindcss.com/docs/flex-shrink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https://tailwindcss.com/docs/flex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Flexbox: Order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order-1 … order-12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order: 1; … order: 12;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20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order-first    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order: -9999;  (first)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order-last     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order: 9999;  (last)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order-none     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order: 0;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{breakpoint}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:order-{value}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88620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3995928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class="flex"&gt;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order-last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"&gt;A&lt;/div&gt;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&lt;div&gt;B&lt;/div&gt;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&lt;div&gt;C&lt;/div&gt;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3886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Rendered order: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4206240"/>
            <a:ext cx="2743200" cy="54864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04304" y="4261104"/>
            <a:ext cx="548640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0" y="4261104"/>
            <a:ext cx="548640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174736" y="4261104"/>
            <a:ext cx="548640" cy="438912"/>
          </a:xfrm>
          <a:prstGeom prst="roundRect">
            <a:avLst>
              <a:gd name="adj" fmla="val 6250"/>
            </a:avLst>
          </a:prstGeom>
          <a:solidFill>
            <a:srgbClr val="EC4899"/>
          </a:solidFill>
          <a:ln>
            <a:solidFill>
              <a:srgbClr val="EC48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1463040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14032" y="1536192"/>
            <a:ext cx="4151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order-md-1  order-last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md:order-1  order-last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https://tailwindcss.com/docs/order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Flexbox: Wrap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.flex-nowrap   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flex-wrap: nowrap; }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20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.flex-wrap     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flex-wrap: wrap; }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.flex-wrap-reverse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flex-wrap: wrap-reverse;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{breakpoint}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:flex-{wrap}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nowrap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1783080"/>
            <a:ext cx="2560320" cy="457200"/>
          </a:xfrm>
          <a:prstGeom prst="rect">
            <a:avLst/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370064" y="1865376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73568" y="1865376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77072" y="1865376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80576" y="1865376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784080" y="1865376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>
              <a:alpha val="60000"/>
            </a:srgbClr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87584" y="1865376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>
              <a:alpha val="60000"/>
            </a:srgbClr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2926080"/>
            <a:ext cx="2560320" cy="777240"/>
          </a:xfrm>
          <a:prstGeom prst="rect">
            <a:avLst/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370064" y="2990088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73568" y="2990088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77072" y="2990088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80576" y="2990088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70064" y="3337560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73568" y="3337560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wrap-reverse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4251960"/>
            <a:ext cx="2560320" cy="777240"/>
          </a:xfrm>
          <a:prstGeom prst="rect">
            <a:avLst/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7370064" y="4315968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73568" y="4315968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70064" y="4663440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4663440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77072" y="4663440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80576" y="4663440"/>
            <a:ext cx="548640" cy="292608"/>
          </a:xfrm>
          <a:prstGeom prst="roundRect">
            <a:avLst>
              <a:gd name="adj" fmla="val 9375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" y="3657600"/>
            <a:ext cx="594360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0392" y="3730752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flex-wrap (same!)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flex-wrap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https://tailwindcss.com/docs/flex-wrap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Flexbox: Align Content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0392" y="1463040"/>
            <a:ext cx="5705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Heads up!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has no effect on a single row of flex items.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.content-start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24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.content-end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083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.content-center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924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.content-between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764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.content-around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160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.content-evenly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544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.content-stretch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40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{breakpoint}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:content-{value}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788920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30752" y="2862072"/>
            <a:ext cx="2825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align-content-center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content-center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content-start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86600" y="1664208"/>
            <a:ext cx="2103120" cy="1645920"/>
          </a:xfrm>
          <a:prstGeom prst="rect">
            <a:avLst/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159752" y="1719072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719072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76488" y="1719072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9752" y="2066544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2066544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0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content-center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26880" y="1664208"/>
            <a:ext cx="2103120" cy="1645920"/>
          </a:xfrm>
          <a:prstGeom prst="rect">
            <a:avLst/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400032" y="2157984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2157984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16768" y="2157984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00032" y="2505456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0" y="2505456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86600" y="3474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content-between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86600" y="3767328"/>
            <a:ext cx="2103120" cy="1645920"/>
          </a:xfrm>
          <a:prstGeom prst="rect">
            <a:avLst/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159752" y="3822192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3822192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76488" y="3822192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59752" y="5047488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18120" y="5047488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26880" y="3474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content-end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326880" y="3767328"/>
            <a:ext cx="2103120" cy="1645920"/>
          </a:xfrm>
          <a:prstGeom prst="rect">
            <a:avLst/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9400032" y="4700016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0" y="4700016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716768" y="4700016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00032" y="5047488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58400" y="5047488"/>
            <a:ext cx="585216" cy="310896"/>
          </a:xfrm>
          <a:prstGeom prst="roundRect">
            <a:avLst>
              <a:gd name="adj" fmla="val 882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https://tailwindcss.com/docs/align-content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Flexbox: Gap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adds space 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between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flex or grid children with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gap-*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instead of giving each child a margin.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.gap-4  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gap: 1rem; }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.gap-x-8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column-gap: 2rem;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.gap-y-2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row-gap: 0.5rem; 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657600"/>
            <a:ext cx="4572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3767328"/>
            <a:ext cx="420624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class="flex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gap-4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&lt;div&gt;1&lt;/div&gt;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&lt;div&gt;2&lt;/div&gt;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&lt;div&gt;3&lt;/div&gt;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0" y="2468880"/>
            <a:ext cx="4480560" cy="54864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004304" y="2523744"/>
            <a:ext cx="548640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98664" y="2523744"/>
            <a:ext cx="548640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93024" y="2523744"/>
            <a:ext cx="548640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3566160"/>
            <a:ext cx="4480560" cy="54864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004304" y="3621024"/>
            <a:ext cx="548640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81544" y="3621024"/>
            <a:ext cx="548640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58784" y="3621024"/>
            <a:ext cx="548640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gap-12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4663440"/>
            <a:ext cx="4480560" cy="54864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9525">
            <a:solidFill>
              <a:srgbClr val="8B5CF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004304" y="4718304"/>
            <a:ext cx="548640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38744" y="4718304"/>
            <a:ext cx="548640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73184" y="4718304"/>
            <a:ext cx="548640" cy="438912"/>
          </a:xfrm>
          <a:prstGeom prst="roundRect">
            <a:avLst>
              <a:gd name="adj" fmla="val 625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https://tailwindcss.com/docs/gap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8503920" y="1097280"/>
            <a:ext cx="2377440" cy="237744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9966960" y="2468880"/>
            <a:ext cx="1828800" cy="182880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8229600" y="3474720"/>
            <a:ext cx="1554480" cy="1554480"/>
          </a:xfrm>
          <a:prstGeom prst="rect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332720" y="365760"/>
            <a:ext cx="1188720" cy="118872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57200" cy="457200"/>
          </a:xfrm>
          <a:prstGeom prst="rect">
            <a:avLst/>
          </a:prstGeom>
        </p:spPr>
      </p:pic>
      <p:sp>
        <p:nvSpPr>
          <p:cNvPr id="8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Summary</a:t>
            </a:r>
            <a:endParaRPr lang="en-US" sz="4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Topics Covered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67335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History of Tailwind CSS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4505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benefits &amp; utility-first thinking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22783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3108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to install Tailwind (Play CDN)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00507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6304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Preflight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78231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463040" y="4663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Breakpoints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6126480" y="155448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167335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76656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Spacing</a:t>
            </a:r>
            <a:endParaRPr lang="en-US" sz="1800" dirty="0"/>
          </a:p>
        </p:txBody>
      </p:sp>
      <p:sp>
        <p:nvSpPr>
          <p:cNvPr id="21" name="Shape 13"/>
          <p:cNvSpPr/>
          <p:nvPr/>
        </p:nvSpPr>
        <p:spPr>
          <a:xfrm>
            <a:off x="6126480" y="233172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2450592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76656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Sizing</a:t>
            </a:r>
            <a:endParaRPr lang="en-US" sz="1800" dirty="0"/>
          </a:p>
        </p:txBody>
      </p:sp>
      <p:sp>
        <p:nvSpPr>
          <p:cNvPr id="24" name="Shape 15"/>
          <p:cNvSpPr/>
          <p:nvPr/>
        </p:nvSpPr>
        <p:spPr>
          <a:xfrm>
            <a:off x="6126480" y="310896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3227832"/>
            <a:ext cx="219456" cy="219456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766560" y="3108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Colors</a:t>
            </a:r>
            <a:endParaRPr lang="en-US" sz="1800" dirty="0"/>
          </a:p>
        </p:txBody>
      </p:sp>
      <p:sp>
        <p:nvSpPr>
          <p:cNvPr id="27" name="Shape 17"/>
          <p:cNvSpPr/>
          <p:nvPr/>
        </p:nvSpPr>
        <p:spPr>
          <a:xfrm>
            <a:off x="6126480" y="388620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4005072"/>
            <a:ext cx="219456" cy="219456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676656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Text formatting</a:t>
            </a:r>
            <a:endParaRPr lang="en-US" sz="1800" dirty="0"/>
          </a:p>
        </p:txBody>
      </p:sp>
      <p:sp>
        <p:nvSpPr>
          <p:cNvPr id="30" name="Shape 19"/>
          <p:cNvSpPr/>
          <p:nvPr/>
        </p:nvSpPr>
        <p:spPr>
          <a:xfrm>
            <a:off x="6126480" y="466344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5352" y="4782312"/>
            <a:ext cx="219456" cy="219456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6766560" y="4663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Flexbox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Tailwind CSS</dc:title>
  <dc:subject>Tailwind CSS</dc:subject>
  <dc:creator>Ranken Technical College</dc:creator>
  <cp:lastModifiedBy>Ranken Technical College</cp:lastModifiedBy>
  <cp:revision>1</cp:revision>
  <dcterms:created xsi:type="dcterms:W3CDTF">2026-10-08T13:18:10Z</dcterms:created>
  <dcterms:modified xsi:type="dcterms:W3CDTF">2026-10-08T13:18:10Z</dcterms:modified>
</cp:coreProperties>
</file>