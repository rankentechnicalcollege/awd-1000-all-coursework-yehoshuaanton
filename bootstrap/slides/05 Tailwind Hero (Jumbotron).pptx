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006504f-ad49-3882-5d35-3b64a6186c9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Examples" id="{c0734350-c26b-8a05-88b4-efb3f1ddd383}">
          <p14:sldIdLst>
            <p14:sldId id="262"/>
            <p14:sldId id="263"/>
            <p14:sldId id="264"/>
            <p14:sldId id="265"/>
          </p14:sldIdLst>
        </p14:section>
        <p14:section name="More" id="{8d767f38-c7c5-aece-46ba-073c93b6ffc4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Content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4.5/components/jumbotron/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btasty.com/blog/above-the-fold/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btasty.com/blog/above-the-fold/" TargetMode="External"/><Relationship Id="rId3" Type="http://schemas.openxmlformats.org/officeDocument/2006/relationships/hyperlink" Target="https://www.optimizely.com/optimization-glossary/above-the-fold/" TargetMode="Externa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btasty.com/blog/ecommerce-conversion-funnel/" TargetMode="External"/><Relationship Id="rId2" Type="http://schemas.openxmlformats.org/officeDocument/2006/relationships/hyperlink" Target="https://www.abtasty.com/blog/effective-call-to-action/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hyperlink" Target="https://www.abtasty.com/blog/above-the-fold/" TargetMode="External"/><Relationship Id="rId7" Type="http://schemas.openxmlformats.org/officeDocument/2006/relationships/hyperlink" Target="https://www.abtasty.com/blog/effective-call-to-action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padding" TargetMode="External"/><Relationship Id="rId2" Type="http://schemas.openxmlformats.org/officeDocument/2006/relationships/hyperlink" Target="https://tailwindcss.com/docs/font-size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max-width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background-image" TargetMode="External"/><Relationship Id="rId3" Type="http://schemas.openxmlformats.org/officeDocument/2006/relationships/hyperlink" Target="https://tailwindcss.com/docs/text-shadow" TargetMode="Externa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background-image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ackground-image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548640" y="-731520"/>
            <a:ext cx="2377440" cy="237744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280160" y="365760"/>
            <a:ext cx="1828800" cy="182880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-365760" y="2194560"/>
            <a:ext cx="2011680" cy="201168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63040" y="2377440"/>
            <a:ext cx="1463040" cy="146304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600000">
            <a:off x="182880" y="4206240"/>
            <a:ext cx="2194560" cy="2194560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2377440" y="4480560"/>
            <a:ext cx="1645920" cy="164592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2743200" y="-365760"/>
            <a:ext cx="1280160" cy="128016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600000">
            <a:off x="2194560" y="1645920"/>
            <a:ext cx="1005840" cy="10058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00000">
            <a:off x="8778240" y="-548640"/>
            <a:ext cx="2011680" cy="201168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00000">
            <a:off x="10424160" y="822960"/>
            <a:ext cx="1828800" cy="18288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400000">
            <a:off x="9326880" y="2560320"/>
            <a:ext cx="1371600" cy="137160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00000">
            <a:off x="10789920" y="3108960"/>
            <a:ext cx="1920240" cy="192024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00000">
            <a:off x="8595360" y="4572000"/>
            <a:ext cx="2103120" cy="210312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000000">
            <a:off x="10607040" y="5120640"/>
            <a:ext cx="1463040" cy="14630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194560"/>
            <a:ext cx="46634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2304288"/>
            <a:ext cx="4443984" cy="2157984"/>
          </a:xfrm>
          <a:prstGeom prst="rect">
            <a:avLst/>
          </a:prstGeom>
          <a:solidFill>
            <a:srgbClr val="1E293B">
              <a:alpha val="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HERO SECTIONS</a:t>
            </a:r>
            <a:endParaRPr lang="en-US" sz="3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Ranken Technical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Hero Section (Jumbotron)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large, eye-catching section at the top of a page that showcases key marketing messages.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4 called this a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jumbotron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(it was removed in Bootstrap 5).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calls it a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hero section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There is no hero class. You build it with spacing, typography, and background utilities.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201168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44184" y="2020824"/>
            <a:ext cx="54223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21031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210312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031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057400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2395728"/>
            <a:ext cx="5221224" cy="2011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281928" y="2757830"/>
            <a:ext cx="4946904" cy="724205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20% off store wide!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161020" y="3602736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44768" y="4498848"/>
            <a:ext cx="5221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 of the page…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https://getbootstrap.com/docs/4.5/components/jumbotron/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Above The Fold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the analog world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Originated with newspapers.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Because they were printed on large sheets of paper, newspapers were folded once when they hit the news-stands.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meant only the top half of the front page was visible to passersby.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Newspapers learned to put attention-grabbing headlines, content, and imagery on the top half of the page.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463040"/>
            <a:ext cx="32918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DAILY NEWS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0" y="2057400"/>
            <a:ext cx="292608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HEADLINE!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2697480"/>
            <a:ext cx="1463040" cy="777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372600" y="2724912"/>
            <a:ext cx="13258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72600" y="2926080"/>
            <a:ext cx="13258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72600" y="3127248"/>
            <a:ext cx="13258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72600" y="3328416"/>
            <a:ext cx="13258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397764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81160" y="397764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434340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281160" y="434340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70916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81160" y="470916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507492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81160" y="5074920"/>
            <a:ext cx="13716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3566160"/>
            <a:ext cx="365760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11109960" y="34015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fold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https://www.abtasty.com/blog/above-the-fold/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Above The Fold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the digital world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basic principle applies to digital content.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fold relates to the scrollbar.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Anything that isn’t visible right away, and requires scrolling, is considered below the fold.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fold is generally 400-600 pixels from the top of the viewport.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can use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vh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(or Tailwind’s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h-screen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min-h-[60vh]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) to be more precise.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463040"/>
            <a:ext cx="4023360" cy="42062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24344" y="1472184"/>
            <a:ext cx="4005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24928" y="15544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71232" y="15544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7536" y="15544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15087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24928" y="1847088"/>
            <a:ext cx="3803904" cy="16459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562088" y="2143354"/>
            <a:ext cx="3529584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20% off store wide!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32520" y="283464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07808" y="3675888"/>
            <a:ext cx="3438144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07808" y="3968496"/>
            <a:ext cx="2889504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07808" y="4261104"/>
            <a:ext cx="2340864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07808" y="4553712"/>
            <a:ext cx="3438144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07808" y="4846320"/>
            <a:ext cx="2889504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07808" y="5138928"/>
            <a:ext cx="2340864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96328" y="3950208"/>
            <a:ext cx="4261104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10314432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fold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https://www.abtasty.com/blog/above-the-fold/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https://www.optimizely.com/optimization-glossary/above-the-fold/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Conversion Funnel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 calls to 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737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 your user’s attention.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SEO, ads, marketing, etc.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Interest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7432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Pique their interest.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attractive visuals, video content, quick summaries, etc.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7490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6366F1"/>
          </a:solidFill>
          <a:ln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7490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trust and the desire to buy.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 comparisons, case studies, testimonials, pricing, history, etc.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475488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C4899"/>
          </a:solidFill>
          <a:ln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47548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Give them an action to take.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purchase, subscribe, etc.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https://www.abtasty.com/blog/ecommerce-conversion-funnel/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https://www.abtasty.com/blog/effective-call-to-action/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2763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4630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 attention-grabbing headlines, content, and imagery above the fold of the home page.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4963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33172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large font sizes above the fold (</a:t>
            </a:r>
            <a:pPr indent="0" marL="0">
              <a:buNone/>
            </a:pPr>
            <a:r>
              <a:rPr lang="en-US" sz="17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text-5xl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text-6xl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2960" y="320040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3649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91640" y="32004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background images and/or gradients above the fold.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23367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1640" y="4069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animated graphics and video above the fold.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822960" y="493776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0235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91640" y="493776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Give a Call To Action somewhere on the home page.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https://www.abtasty.com/blog/above-the-fold/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https://www.abtasty.com/blog/effective-call-to-action/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Simple Hero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 mx-auto"&gt;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rounded-lg bg-gray-800 px-8 py-16 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text-5xl font-light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"&gt;20% off store wide!&lt;/h1&gt;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mt-6 inline-block rounded-md bg-blue-600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px-6 py-3 text-lg hover:bg-blue-700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role="button" href="#"&gt;Learn more&lt;/a&gt;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443484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50799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jumbotron bg-dark  display-4  btn-lg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rounded-lg bg-gray-800 py-16  text-5xl  px-6 py-3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973568" y="1847088"/>
            <a:ext cx="3209544" cy="1700784"/>
          </a:xfrm>
          <a:prstGeom prst="roundRect">
            <a:avLst>
              <a:gd name="adj" fmla="val 322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2153229"/>
            <a:ext cx="2660904" cy="612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20% off store wide!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7888" y="286755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https://tailwindcss.com/docs/padding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https://tailwindcss.com/docs/font-size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Full-Width Hero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bg-gray-800 py-16 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mx-auto px-4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 class="text-5xl font-light"&gt;20% off store wide!&lt;/h1&gt;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class="mt-6 inline-block rounded-md bg-blue-600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px-6 py-3 text-lg hover:bg-blue-700"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role="button" href="#"&gt;Learn more&lt;/a&gt;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443484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50799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jumbotron jumbotron-fluid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on the outer div, container inside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90104" y="1755648"/>
            <a:ext cx="3776472" cy="17922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1584" y="2078248"/>
            <a:ext cx="2953512" cy="64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20% off store wide!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01584" y="2830982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9319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color stretches edge to edge. The text stays lined up with the container.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https://tailwindcss.com/docs/max-width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Hero with background image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 min-h-[400px] flex-col items-center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justify-center bg-[url('...')] bg-cover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bg-center bg-no-repeat 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class="text-5xl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font-extrabold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text-shadow-[2px_2px_0_black]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20% off store wide!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&lt;/h1&gt;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class="mt-6 rounded-md bg-blue-600 px-6 py-3 text-lg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font-extrabold shadow-[4px_4px_0_black]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role="button" href="#"&gt;Learn more&lt;/a&gt;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90104" y="1755648"/>
            <a:ext cx="3776472" cy="17922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27264" y="2078248"/>
            <a:ext cx="3502152" cy="645201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20% off store wide!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83980" y="2830982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3931920"/>
            <a:ext cx="3794760" cy="1554480"/>
          </a:xfrm>
          <a:prstGeom prst="roundRect">
            <a:avLst>
              <a:gd name="adj" fmla="val 4706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45552" y="4023360"/>
            <a:ext cx="3465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custom CSS!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Bootstrap version needed a 20-line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.example-jumbotron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rule. Every line became a utility class.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166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Square brackets let you use any value: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min-h-[400px]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bg-[url('...')]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https://tailwindcss.com/docs/background-image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https://tailwindcss.com/docs/text-shadow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Hero with a gradient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bg-linear-to-r from-indigo-600 to-cyan-500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px-8 py-16 text-center text-white"&gt;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class="text-5xl font-bold"&gt;20% off store wide!&lt;/h1&gt;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class="mt-6 inline-block rounded-md bg-white px-6 py-3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text-lg font-semibold text-indigo-600"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href="#"&gt;Learn more&lt;/a&gt;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148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bg-linear-to-r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sets the direction (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to-b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to-br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…).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from-*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to-*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pick the start and end colors.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via-*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for a middle color.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37160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90104" y="1755648"/>
            <a:ext cx="3776472" cy="179222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827264" y="2078248"/>
            <a:ext cx="3502152" cy="64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20% off store wide!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983980" y="2830982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Examples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685800" y="2926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https://tailwindcss.com/docs/background-image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Tailwind Hero Sections</dc:title>
  <dc:subject>Tailwind CSS</dc:subject>
  <dc:creator>Ranken Technical College</dc:creator>
  <cp:lastModifiedBy>Ranken Technical College</cp:lastModifiedBy>
  <cp:revision>1</cp:revision>
  <dcterms:created xsi:type="dcterms:W3CDTF">2026-10-08T13:18:10Z</dcterms:created>
  <dcterms:modified xsi:type="dcterms:W3CDTF">2026-10-08T13:18:10Z</dcterms:modified>
</cp:coreProperties>
</file>